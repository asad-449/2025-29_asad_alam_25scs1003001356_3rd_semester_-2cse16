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914400" cy="685800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685800" cy="68580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52760" y="0"/>
            <a:ext cx="502920" cy="68580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77724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B4D5E7"/>
                </a:solidFill>
                <a:latin typeface="Aptos"/>
              </a:defRPr>
            </a:pPr>
            <a:r>
              <a:t>IILM UNIVERSITY · GREATER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58952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INTERNSHIP</a:t>
            </a:r>
            <a:br/>
            <a: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7498079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000" b="1">
                <a:solidFill>
                  <a:srgbClr val="B4E6E2"/>
                </a:solidFill>
                <a:latin typeface="Aptos"/>
              </a:defRPr>
            </a:pPr>
            <a:r>
              <a:t>Artificial Intelligence &amp;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74980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ASAD ALAM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7772400" cy="8229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E2EBF3"/>
                </a:solidFill>
                <a:latin typeface="Aptos"/>
              </a:defRPr>
            </a:pPr>
            <a:r>
              <a:t>B.Tech – Computer Science &amp; Engineering</a:t>
            </a:r>
            <a:br/>
            <a:r>
              <a:t>Roll No. 25SCS1003001356  |  Semester 3  |  Section 2CSE16</a:t>
            </a:r>
            <a:br/>
            <a:r>
              <a:t>Batch 2025–2029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77724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E2EBF3"/>
                </a:solidFill>
                <a:latin typeface="Aptos"/>
              </a:defRPr>
            </a:pPr>
            <a:r>
              <a:t>RabTech Academy  ·  Remote  ·  30 Days</a:t>
            </a:r>
            <a:br/>
            <a:r>
              <a:t>11 September 2026 – 11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Internship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5087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0632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044952" cy="82295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RabTech Academy</a:t>
            </a:r>
            <a:br/>
            <a:r>
              <a:t>Remote internship · 30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150876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64792"/>
            <a:ext cx="30632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67128"/>
            <a:ext cx="3044952" cy="82295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Artificial Intelligence</a:t>
            </a:r>
            <a:br/>
            <a:r>
              <a:t>&amp;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4008" cy="150876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764792"/>
            <a:ext cx="30632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67128"/>
            <a:ext cx="3044952" cy="82295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11 Sep 2026 – 11 Oct 2026</a:t>
            </a:r>
            <a:br/>
            <a:r>
              <a:t>As printed on certificate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64008" cy="155448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593592"/>
            <a:ext cx="49377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995928"/>
            <a:ext cx="4919472" cy="8686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ASAD ALAM</a:t>
            </a:r>
            <a:br/>
            <a:r>
              <a:t>B.Tech CSE · IILM University, Greater Noida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2900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429000"/>
            <a:ext cx="64008" cy="15544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593592"/>
            <a:ext cx="49377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Verified completion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95928"/>
            <a:ext cx="4919472" cy="8686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6 of 6 tasks approved</a:t>
            </a:r>
            <a:br/>
            <a:r>
              <a:t>Certificate issued: 19 September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100" b="1">
                <a:solidFill>
                  <a:srgbClr val="142B4A"/>
                </a:solidFill>
                <a:latin typeface="Aptos"/>
              </a:defRPr>
            </a:pPr>
            <a:r>
              <a:t>An effective ML workflow is a connected process—not just model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64008" cy="1965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724912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Define responsibly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27248"/>
            <a:ext cx="2999232" cy="12801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Frame the problem and document responsible data considerations.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64008" cy="196596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724912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Prepare &amp;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127248"/>
            <a:ext cx="2999232" cy="12801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Engineer features, preprocess data, and develop supervised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560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560320"/>
            <a:ext cx="64008" cy="196596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724912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Make inference usable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127248"/>
            <a:ext cx="2999232" cy="12801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Explore deep-learning/NLP classification and a REST API inference capstone.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5F7082"/>
                </a:solidFill>
                <a:latin typeface="Aptos"/>
              </a:defRPr>
            </a:pPr>
            <a:r>
              <a:t>The six assessed tasks span these connected stages; no specific dataset or production use case is identified in the supplied certificate.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Internship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64008" cy="11430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64792"/>
            <a:ext cx="47091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67128"/>
            <a:ext cx="4690872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Communicate the internship opportunity professionally on LinkedIn.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64008" cy="114300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64792"/>
            <a:ext cx="47091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67128"/>
            <a:ext cx="4690872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Frame an ML problem and prepare a responsible data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17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17520"/>
            <a:ext cx="64008" cy="11430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182112"/>
            <a:ext cx="47091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84448"/>
            <a:ext cx="4690872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Understand feature engineering and preprocessing.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64008" cy="114300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182112"/>
            <a:ext cx="47091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584448"/>
            <a:ext cx="4690872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Explore supervised classification / regression and model tuning.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348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434840"/>
            <a:ext cx="64008" cy="11430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599431"/>
            <a:ext cx="47091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001768"/>
            <a:ext cx="4690872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Address deep-learning / NLP text classification with PyTorch or TensorFlow.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434840"/>
            <a:ext cx="64008" cy="114300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4599431"/>
            <a:ext cx="470915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5001768"/>
            <a:ext cx="4690872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Address real-time ML inference through a REST API capstone.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Technologies &amp; assessed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64008" cy="15087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64792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67128"/>
            <a:ext cx="2999232" cy="82295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Artificial Intelligence</a:t>
            </a:r>
            <a:br/>
            <a:r>
              <a:t>Machine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150876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64792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Framework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67128"/>
            <a:ext cx="2999232" cy="82295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PyTorch / TensorFlow</a:t>
            </a:r>
            <a:br/>
            <a:r>
              <a:t>(named in Task 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64008" cy="150876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764792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Inference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67128"/>
            <a:ext cx="2999232" cy="82295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REST API</a:t>
            </a:r>
            <a:br/>
            <a:r>
              <a:t>(named in Task 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74720"/>
            <a:ext cx="10607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74720"/>
            <a:ext cx="64008" cy="1325880"/>
          </a:xfrm>
          <a:prstGeom prst="rect">
            <a:avLst/>
          </a:prstGeom>
          <a:solidFill>
            <a:srgbClr val="5F7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639312"/>
            <a:ext cx="102412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Important documentation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41648"/>
            <a:ext cx="1022299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The certificate does not identify the selected framework, programming language, dataset, IDE, API framework, cloud platform, or exact model architecture. These are not assumed in this presentation.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Conceptual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1051560"/>
          </a:xfrm>
          <a:prstGeom prst="roundRect">
            <a:avLst/>
          </a:prstGeom>
          <a:solidFill>
            <a:srgbClr val="E8F2F6"/>
          </a:solidFill>
          <a:ln>
            <a:solidFill>
              <a:srgbClr val="1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t>Problem framing</a:t>
            </a:r>
            <a:br/>
            <a:r>
              <a:t>&amp; responsible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148840"/>
            <a:ext cx="256032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800" b="1">
                <a:solidFill>
                  <a:srgbClr val="5F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4952" y="1828800"/>
            <a:ext cx="2057400" cy="1051560"/>
          </a:xfrm>
          <a:prstGeom prst="roundRect">
            <a:avLst/>
          </a:prstGeom>
          <a:solidFill>
            <a:srgbClr val="E6F4F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t>Feature engineering</a:t>
            </a:r>
            <a:br/>
            <a:r>
              <a:t>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2148840"/>
            <a:ext cx="256032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800" b="1">
                <a:solidFill>
                  <a:srgbClr val="5F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58384" y="1828800"/>
            <a:ext cx="2057400" cy="1051560"/>
          </a:xfrm>
          <a:prstGeom prst="roundRect">
            <a:avLst/>
          </a:prstGeom>
          <a:solidFill>
            <a:srgbClr val="E8F2F6"/>
          </a:solidFill>
          <a:ln>
            <a:solidFill>
              <a:srgbClr val="1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t>Supervised ML</a:t>
            </a:r>
            <a:br/>
            <a:r>
              <a:t>classification /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5783" y="2148840"/>
            <a:ext cx="256032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800" b="1">
                <a:solidFill>
                  <a:srgbClr val="5F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71816" y="1828800"/>
            <a:ext cx="2057400" cy="1051560"/>
          </a:xfrm>
          <a:prstGeom prst="roundRect">
            <a:avLst/>
          </a:prstGeom>
          <a:solidFill>
            <a:srgbClr val="E6F4F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t>Deep learning / NLP</a:t>
            </a:r>
            <a:br/>
            <a:r>
              <a:t>text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9216" y="2148840"/>
            <a:ext cx="256032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800" b="1">
                <a:solidFill>
                  <a:srgbClr val="5F70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1828800"/>
            <a:ext cx="2057400" cy="1051560"/>
          </a:xfrm>
          <a:prstGeom prst="roundRect">
            <a:avLst/>
          </a:prstGeom>
          <a:solidFill>
            <a:srgbClr val="F9F2E2"/>
          </a:solidFill>
          <a:ln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t>Real-time inference</a:t>
            </a:r>
            <a:br/>
            <a:r>
              <a:t>REST API capstone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51560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Aptos"/>
              </a:defRPr>
            </a:pPr>
            <a:r>
              <a:t>Conceptual flow based on the task titles. It does not represent a verified deployed architecture or a specific implementation.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Methodology: six assessed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36192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83746"/>
                </a:solidFill>
                <a:latin typeface="Aptos"/>
              </a:defRPr>
            </a:pPr>
            <a:r>
              <a:t>LinkedIn internship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536192"/>
            <a:ext cx="18288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200" b="1">
                <a:solidFill>
                  <a:srgbClr val="1E5A88"/>
                </a:solidFill>
                <a:latin typeface="Aptos"/>
              </a:defRPr>
            </a:pPr>
            <a:r>
              <a:t>85/100 · A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67712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49424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83746"/>
                </a:solidFill>
                <a:latin typeface="Aptos"/>
              </a:defRPr>
            </a:pPr>
            <a:r>
              <a:t>ML problem framing &amp; responsible data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249424"/>
            <a:ext cx="18288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200" b="1">
                <a:solidFill>
                  <a:srgbClr val="1E5A88"/>
                </a:solidFill>
                <a:latin typeface="Aptos"/>
              </a:defRPr>
            </a:pPr>
            <a:r>
              <a:t>85/100 · A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980944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62656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83746"/>
                </a:solidFill>
                <a:latin typeface="Aptos"/>
              </a:defRPr>
            </a:pPr>
            <a:r>
              <a:t>Feature engineering &amp; preprocessing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962656"/>
            <a:ext cx="18288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200" b="1">
                <a:solidFill>
                  <a:srgbClr val="1E5A88"/>
                </a:solidFill>
                <a:latin typeface="Aptos"/>
              </a:defRPr>
            </a:pPr>
            <a:r>
              <a:t>95/100 · A+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94176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75888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83746"/>
                </a:solidFill>
                <a:latin typeface="Aptos"/>
              </a:defRPr>
            </a:pPr>
            <a:r>
              <a:t>Supervised classification / regression &amp;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675888"/>
            <a:ext cx="18288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200" b="1">
                <a:solidFill>
                  <a:srgbClr val="1E5A88"/>
                </a:solidFill>
                <a:latin typeface="Aptos"/>
              </a:defRPr>
            </a:pPr>
            <a:r>
              <a:t>95/100 · A+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407408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83746"/>
                </a:solidFill>
                <a:latin typeface="Aptos"/>
              </a:defRPr>
            </a:pPr>
            <a:r>
              <a:t>Deep learning / NLP text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389120"/>
            <a:ext cx="18288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200" b="1">
                <a:solidFill>
                  <a:srgbClr val="1E5A88"/>
                </a:solidFill>
                <a:latin typeface="Aptos"/>
              </a:defRPr>
            </a:pPr>
            <a:r>
              <a:t>95/100 · A+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120640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102352"/>
            <a:ext cx="77724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1">
                <a:solidFill>
                  <a:srgbClr val="283746"/>
                </a:solidFill>
                <a:latin typeface="Aptos"/>
              </a:defRPr>
            </a:pPr>
            <a:r>
              <a:t>Real-time ML inference REST API &amp; 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102352"/>
            <a:ext cx="18288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1200" b="1">
                <a:solidFill>
                  <a:srgbClr val="1E5A88"/>
                </a:solidFill>
                <a:latin typeface="Aptos"/>
              </a:defRPr>
            </a:pPr>
            <a:r>
              <a:t>95/100 · A+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Task explanations · 01–03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24612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01 · LinkedIn publication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3136392" cy="2560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Publish the AI &amp; ML internship offer on LinkedIn.</a:t>
            </a:r>
            <a:br/>
            <a:br/>
            <a:r>
              <a:t>Assessment: 85/100 · Grade A</a:t>
            </a:r>
            <a:br/>
            <a:r>
              <a:t>Decision: APPROVED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324612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02 · Problem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136392" cy="2560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Frame an ML problem and prepare a responsible data card.</a:t>
            </a:r>
            <a:br/>
            <a:br/>
            <a:r>
              <a:t>Assessment: 85/100 · Grade A</a:t>
            </a:r>
            <a:br/>
            <a:r>
              <a:t>Decision: 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00200"/>
            <a:ext cx="64008" cy="32461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64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03 ·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67128"/>
            <a:ext cx="3136392" cy="2560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Feature engineering and preprocessing pipeline.</a:t>
            </a:r>
            <a:br/>
            <a:br/>
            <a:r>
              <a:t>Assessment: 95/100 · Grade A+</a:t>
            </a:r>
            <a:br/>
            <a:r>
              <a:t>Decision: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Task explanations · 04–06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24612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04 · Supervised modelling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3136392" cy="2560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Classification / regression modelling and tuning.</a:t>
            </a:r>
            <a:br/>
            <a:br/>
            <a:r>
              <a:t>Assessment: 95/100 · Grade A+</a:t>
            </a:r>
            <a:br/>
            <a:r>
              <a:t>Decision: APPROVED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324612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05 · Deep learning /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136392" cy="2560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Text classifier task naming PyTorch/TensorFlow.</a:t>
            </a:r>
            <a:br/>
            <a:br/>
            <a:r>
              <a:t>Assessment: 95/100 · Grade A+</a:t>
            </a:r>
            <a:br/>
            <a:r>
              <a:t>Decision: 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00200"/>
            <a:ext cx="64008" cy="32461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64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06 · Inference API capstone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67128"/>
            <a:ext cx="3136392" cy="2560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Real-time ML inference REST API and capstone.</a:t>
            </a:r>
            <a:br/>
            <a:br/>
            <a:r>
              <a:t>Assessment: 95/100 · Grade A+</a:t>
            </a:r>
            <a:br/>
            <a:r>
              <a:t>Decision: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Evaluation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20040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3800" b="1">
                <a:solidFill>
                  <a:srgbClr val="142B4A"/>
                </a:solidFill>
                <a:latin typeface="Aptos"/>
              </a:defRPr>
            </a:pPr>
            <a:r>
              <a:t>92/100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1">
                <a:solidFill>
                  <a:srgbClr val="5F7082"/>
                </a:solidFill>
                <a:latin typeface="Aptos"/>
              </a:defRPr>
            </a:pPr>
            <a:r>
              <a:t>OVERALL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274320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3800" b="1">
                <a:solidFill>
                  <a:srgbClr val="168C8C"/>
                </a:solidFill>
                <a:latin typeface="Aptos"/>
              </a:defRPr>
            </a:pPr>
            <a:r>
              <a:t>A+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06040"/>
            <a:ext cx="27432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1">
                <a:solidFill>
                  <a:srgbClr val="5F7082"/>
                </a:solidFill>
                <a:latin typeface="Aptos"/>
              </a:defRPr>
            </a:pPr>
            <a:r>
              <a:t>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600200"/>
            <a:ext cx="320040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3800" b="1">
                <a:solidFill>
                  <a:srgbClr val="1E5A88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606040"/>
            <a:ext cx="32004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1">
                <a:solidFill>
                  <a:srgbClr val="5F7082"/>
                </a:solidFill>
                <a:latin typeface="Aptos"/>
              </a:defRPr>
            </a:pPr>
            <a:r>
              <a:t>TASKS 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37560"/>
            <a:ext cx="10241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337560"/>
            <a:ext cx="64008" cy="109728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02152"/>
            <a:ext cx="987551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Official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04487"/>
            <a:ext cx="9857232" cy="411479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OUTSTANDING  ·  Mentor Verified  ·  Reviewer: ADMIN-RABTECH-001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68C8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36192"/>
            <a:ext cx="987552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83746"/>
                </a:solidFill>
                <a:latin typeface="Aptos"/>
              </a:defRPr>
            </a:pPr>
            <a:r>
              <a:t>Problem framing and responsible data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68C8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94560"/>
            <a:ext cx="987552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83746"/>
                </a:solidFill>
                <a:latin typeface="Aptos"/>
              </a:defRPr>
            </a:pPr>
            <a:r>
              <a:t>Feature engineering and data preprocessing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215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68C8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52927"/>
            <a:ext cx="987552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83746"/>
                </a:solidFill>
                <a:latin typeface="Aptos"/>
              </a:defRPr>
            </a:pPr>
            <a:r>
              <a:t>Supervised classification / regression and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9584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68C8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11296"/>
            <a:ext cx="987552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83746"/>
                </a:solidFill>
                <a:latin typeface="Aptos"/>
              </a:defRPr>
            </a:pPr>
            <a:r>
              <a:t>Deep-learning and NLP text-classification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68C8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69664"/>
            <a:ext cx="987552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83746"/>
                </a:solidFill>
                <a:latin typeface="Aptos"/>
              </a:defRPr>
            </a:pPr>
            <a:r>
              <a:t>Role of REST APIs in real-time model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68C8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28032"/>
            <a:ext cx="987552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0">
                <a:solidFill>
                  <a:srgbClr val="283746"/>
                </a:solidFill>
                <a:latin typeface="Aptos"/>
              </a:defRPr>
            </a:pPr>
            <a:r>
              <a:t>Professional communication and assessed task completion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0">
                <a:solidFill>
                  <a:srgbClr val="5F7082"/>
                </a:solidFill>
                <a:latin typeface="Aptos"/>
              </a:defRPr>
            </a:pPr>
            <a:r>
              <a:t>Learning outcomes are stated from the task descriptions; no unreported model metrics are claimed.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Certificate &amp; verification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4008" cy="34290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73351"/>
            <a:ext cx="48463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Completion certificate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4828032" cy="2743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Name: ASAD ALAM</a:t>
            </a:r>
            <a:br/>
            <a:r>
              <a:t>Domain: Artificial Intelligence &amp; Machine Learning</a:t>
            </a:r>
            <a:br/>
            <a:r>
              <a:t>Duration: 30 Days</a:t>
            </a:r>
            <a:br/>
            <a:r>
              <a:t>Period: 11 Sep 2026 – 11 Oct 2026</a:t>
            </a:r>
            <a:br/>
            <a:r>
              <a:t>Issued: 19 Sep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3429000"/>
          </a:xfrm>
          <a:prstGeom prst="rect">
            <a:avLst/>
          </a:prstGeom>
          <a:solidFill>
            <a:srgbClr val="1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1"/>
            <a:ext cx="48463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Official identifiers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4828032" cy="2743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Certificate ID:</a:t>
            </a:r>
            <a:br/>
            <a:r>
              <a:t>RAB-CERT-2026-30343B6A9C1C</a:t>
            </a:r>
            <a:br/>
            <a:br/>
            <a:r>
              <a:t>Intern ID:</a:t>
            </a:r>
            <a:br/>
            <a:r>
              <a:t>RAB-2026-0BBFE8CFBF</a:t>
            </a:r>
            <a:br/>
            <a:br/>
            <a:r>
              <a:t>Issuer: RabTech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03520"/>
            <a:ext cx="105156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5F7082"/>
                </a:solidFill>
                <a:latin typeface="Aptos"/>
              </a:defRPr>
            </a:pPr>
            <a:r>
              <a:t>The dates and identifiers above are reproduced as printed on the supplied certificate.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000" b="1">
                <a:solidFill>
                  <a:srgbClr val="168C8C"/>
                </a:solidFill>
                <a:latin typeface="Aptos"/>
              </a:defRPr>
            </a:pPr>
            <a:r>
              <a:t>RABTECH ACADEMY · 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424160" cy="10515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2000" b="1">
                <a:solidFill>
                  <a:srgbClr val="142B4A"/>
                </a:solidFill>
                <a:latin typeface="Aptos"/>
              </a:defRPr>
            </a:pPr>
            <a:r>
              <a:t>The RabTech Academy internship provided a structured, assessed sequence across core AI/ML activities—from problem framing and data preparation to modelling, NLP and inference API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10149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64008" cy="12344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10712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500" b="1">
                <a:solidFill>
                  <a:srgbClr val="142B4A"/>
                </a:solidFill>
                <a:latin typeface="Aptos"/>
              </a:defRPr>
            </a:pPr>
            <a:r>
              <a:t>Verified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813048"/>
            <a:ext cx="9765792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100" b="0">
                <a:solidFill>
                  <a:srgbClr val="283746"/>
                </a:solidFill>
                <a:latin typeface="Aptos"/>
              </a:defRPr>
            </a:pPr>
            <a:r>
              <a:t>All six tasks approved · Overall score 92/100 · Grade A+ · Result: Outstanding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Aptos"/>
              </a:defRPr>
            </a:pPr>
            <a:r>
              <a:t>The report and presentation document the verified record without assuming undocumented implementation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800" b="0">
                <a:solidFill>
                  <a:srgbClr val="5F7082"/>
                </a:solidFill>
                <a:latin typeface="Aptos"/>
              </a:defRPr>
            </a:pPr>
            <a:r>
              <a:t>ASAD ALAM  |  IILM UNIVERSITY, GREATER NOIDA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defRPr sz="900" b="0">
                <a:solidFill>
                  <a:srgbClr val="5F70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2300" b="1">
                <a:solidFill>
                  <a:srgbClr val="B4E6E2"/>
                </a:solidFill>
                <a:latin typeface="Aptos"/>
              </a:defRPr>
            </a:pPr>
            <a:r>
              <a:t>ASAD ALAM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9144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B.Tech – Computer Science &amp; Engineering</a:t>
            </a:r>
            <a:br/>
            <a: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defRPr sz="1300" b="0">
                <a:solidFill>
                  <a:srgbClr val="E2EBF3"/>
                </a:solidFill>
                <a:latin typeface="Aptos"/>
              </a:defRPr>
            </a:pPr>
            <a:r>
              <a:t>RabTech Academy · Artificial Intelligence &amp;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